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0C7BE2-067F-4669-912A-92916AFEB4FC}">
  <a:tblStyle styleId="{710C7BE2-067F-4669-912A-92916AFEB4F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Mono-regular.fntdata"/><Relationship Id="rId21" Type="http://schemas.openxmlformats.org/officeDocument/2006/relationships/slide" Target="slides/slide15.xml"/><Relationship Id="rId24" Type="http://schemas.openxmlformats.org/officeDocument/2006/relationships/font" Target="fonts/RobotoMono-italic.fntdata"/><Relationship Id="rId23"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RobotoMon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4ae1afc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4ae1afc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4ae1afc9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f4ae1afc9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4ae1afc9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4ae1afc9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4ae1afc9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4ae1afc9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4ae1afc9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4ae1afc9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4ae1afc9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4ae1afc9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4ae1afc95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4ae1afc95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4ae1afc9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4ae1afc9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4ae1afc9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4ae1afc9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4ae1afc9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4ae1afc9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4ae1afc9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4ae1afc9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4ae1afc95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4ae1afc9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4ae1afc95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f4ae1afc9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4ae1afc95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4ae1afc95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drive.google.com/file/d/1z1UNiC8fIQpVULtM2pCVtkxyv8LbCYDl/view?usp=drive_link" TargetMode="External"/><Relationship Id="rId4" Type="http://schemas.openxmlformats.org/officeDocument/2006/relationships/hyperlink" Target="https://drive.google.com/file/d/1l41EM21D3M0fufQLzHzU0rKEkbvGak0T/view?usp=drive_link"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RehaanKhan2207/Skincare-Concierge" TargetMode="External"/><Relationship Id="rId4" Type="http://schemas.openxmlformats.org/officeDocument/2006/relationships/hyperlink" Target="https://skincare-concierge.vercel.app/" TargetMode="External"/><Relationship Id="rId5" Type="http://schemas.openxmlformats.org/officeDocument/2006/relationships/hyperlink" Target="https://skincare-concierge.onrender.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74550" y="2637525"/>
            <a:ext cx="8909400" cy="1715700"/>
          </a:xfrm>
          <a:prstGeom prst="rect">
            <a:avLst/>
          </a:prstGeom>
        </p:spPr>
        <p:txBody>
          <a:bodyPr anchorCtr="0" anchor="b" bIns="91425" lIns="91425" spcFirstLastPara="1" rIns="91425" wrap="square" tIns="91425">
            <a:normAutofit fontScale="90000"/>
          </a:bodyPr>
          <a:lstStyle/>
          <a:p>
            <a:pPr indent="0" lvl="0" marL="0" rtl="0" algn="ctr">
              <a:lnSpc>
                <a:spcPct val="90000"/>
              </a:lnSpc>
              <a:spcBef>
                <a:spcPts val="0"/>
              </a:spcBef>
              <a:spcAft>
                <a:spcPts val="0"/>
              </a:spcAft>
              <a:buNone/>
            </a:pPr>
            <a:r>
              <a:rPr b="1" lang="en" sz="6600">
                <a:solidFill>
                  <a:srgbClr val="000000"/>
                </a:solidFill>
                <a:latin typeface="Calibri"/>
                <a:ea typeface="Calibri"/>
                <a:cs typeface="Calibri"/>
                <a:sym typeface="Calibri"/>
              </a:rPr>
              <a:t>IBM University Engagement Project Submission</a:t>
            </a:r>
            <a:br>
              <a:rPr b="1" lang="en" sz="6000">
                <a:solidFill>
                  <a:srgbClr val="000000"/>
                </a:solidFill>
                <a:latin typeface="Calibri"/>
                <a:ea typeface="Calibri"/>
                <a:cs typeface="Calibri"/>
                <a:sym typeface="Calibri"/>
              </a:rPr>
            </a:br>
            <a:endParaRPr sz="6000">
              <a:solidFill>
                <a:srgbClr val="000000"/>
              </a:solidFill>
              <a:latin typeface="Calibri"/>
              <a:ea typeface="Calibri"/>
              <a:cs typeface="Calibri"/>
              <a:sym typeface="Calibri"/>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3099075"/>
            <a:ext cx="8520600" cy="792600"/>
          </a:xfrm>
          <a:prstGeom prst="rect">
            <a:avLst/>
          </a:prstGeom>
        </p:spPr>
        <p:txBody>
          <a:bodyPr anchorCtr="0" anchor="t" bIns="91425" lIns="91425" spcFirstLastPara="1" rIns="91425" wrap="square" tIns="91425">
            <a:normAutofit fontScale="92500" lnSpcReduction="20000"/>
          </a:bodyPr>
          <a:lstStyle/>
          <a:p>
            <a:pPr indent="-228600" lvl="0" marL="457200" rtl="0" algn="ctr">
              <a:lnSpc>
                <a:spcPct val="90000"/>
              </a:lnSpc>
              <a:spcBef>
                <a:spcPts val="1000"/>
              </a:spcBef>
              <a:spcAft>
                <a:spcPts val="0"/>
              </a:spcAft>
              <a:buNone/>
            </a:pPr>
            <a:r>
              <a:rPr b="1" i="1" lang="en" sz="2400">
                <a:solidFill>
                  <a:srgbClr val="888888"/>
                </a:solidFill>
                <a:latin typeface="Calibri"/>
                <a:ea typeface="Calibri"/>
                <a:cs typeface="Calibri"/>
                <a:sym typeface="Calibri"/>
              </a:rPr>
              <a:t>“Exploring the Power of Agentic AI with IBM Granite and Langflow”</a:t>
            </a:r>
            <a:endParaRPr sz="2400">
              <a:solidFill>
                <a:srgbClr val="888888"/>
              </a:solidFill>
              <a:latin typeface="Calibri"/>
              <a:ea typeface="Calibri"/>
              <a:cs typeface="Calibri"/>
              <a:sym typeface="Calibri"/>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100">
                <a:solidFill>
                  <a:srgbClr val="000000"/>
                </a:solidFill>
              </a:rPr>
              <a:t>Project Tile – </a:t>
            </a:r>
            <a:r>
              <a:rPr b="1" lang="en" sz="3100"/>
              <a:t>AI </a:t>
            </a:r>
            <a:r>
              <a:rPr b="1" lang="en" sz="3100">
                <a:solidFill>
                  <a:srgbClr val="000000"/>
                </a:solidFill>
              </a:rPr>
              <a:t>Skincare Concierge</a:t>
            </a:r>
            <a:endParaRPr b="1" sz="3100">
              <a:solidFill>
                <a:srgbClr val="000000"/>
              </a:solidFill>
              <a:highlight>
                <a:srgbClr val="FFFF00"/>
              </a:highlight>
            </a:endParaRPr>
          </a:p>
          <a:p>
            <a:pPr indent="0" lvl="0" marL="0" rtl="0" algn="l">
              <a:spcBef>
                <a:spcPts val="0"/>
              </a:spcBef>
              <a:spcAft>
                <a:spcPts val="0"/>
              </a:spcAft>
              <a:buClr>
                <a:srgbClr val="000000"/>
              </a:buClr>
              <a:buFont typeface="Arial"/>
              <a:buNone/>
            </a:pPr>
            <a:r>
              <a:t/>
            </a:r>
            <a:endParaRPr b="1" sz="2400">
              <a:solidFill>
                <a:srgbClr val="000000"/>
              </a:solidFill>
              <a:highlight>
                <a:srgbClr val="FFFF00"/>
              </a:highlight>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32864"/>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Font typeface="Arial"/>
              <a:buNone/>
            </a:pPr>
            <a:r>
              <a:rPr b="1" lang="en" sz="2600">
                <a:solidFill>
                  <a:srgbClr val="000000"/>
                </a:solidFill>
              </a:rPr>
              <a:t>Domain of  Project – </a:t>
            </a:r>
            <a:r>
              <a:rPr b="1" lang="en" sz="2600">
                <a:solidFill>
                  <a:schemeClr val="dk1"/>
                </a:solidFill>
              </a:rPr>
              <a:t>Healthcare</a:t>
            </a:r>
            <a:r>
              <a:rPr lang="en" sz="2600">
                <a:solidFill>
                  <a:schemeClr val="dk1"/>
                </a:solidFill>
              </a:rPr>
              <a:t> (specifically clinical dermatology and personalized wellness)</a:t>
            </a:r>
            <a:endParaRPr b="1" sz="2600">
              <a:solidFill>
                <a:srgbClr val="000000"/>
              </a:solidFill>
              <a:highlight>
                <a:srgbClr val="FFFF00"/>
              </a:highlight>
            </a:endParaRPr>
          </a:p>
          <a:p>
            <a:pPr indent="0" lvl="0" marL="0" rtl="0" algn="l">
              <a:spcBef>
                <a:spcPts val="0"/>
              </a:spcBef>
              <a:spcAft>
                <a:spcPts val="1200"/>
              </a:spcAft>
              <a:buNone/>
            </a:pPr>
            <a:r>
              <a:t/>
            </a:r>
            <a:endParaRPr/>
          </a:p>
        </p:txBody>
      </p:sp>
      <p:graphicFrame>
        <p:nvGraphicFramePr>
          <p:cNvPr id="62" name="Google Shape;62;p14"/>
          <p:cNvGraphicFramePr/>
          <p:nvPr/>
        </p:nvGraphicFramePr>
        <p:xfrm>
          <a:off x="358732" y="2254790"/>
          <a:ext cx="3000000" cy="3000000"/>
        </p:xfrm>
        <a:graphic>
          <a:graphicData uri="http://schemas.openxmlformats.org/drawingml/2006/table">
            <a:tbl>
              <a:tblPr>
                <a:noFill/>
                <a:tableStyleId>{710C7BE2-067F-4669-912A-92916AFEB4FC}</a:tableStyleId>
              </a:tblPr>
              <a:tblGrid>
                <a:gridCol w="1823725"/>
                <a:gridCol w="2158025"/>
                <a:gridCol w="2158025"/>
                <a:gridCol w="2158025"/>
              </a:tblGrid>
              <a:tr h="1263575">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FFFFFF"/>
                        </a:buClr>
                        <a:buSzPts val="1800"/>
                        <a:buFont typeface="Calibri"/>
                        <a:buNone/>
                      </a:pPr>
                      <a:r>
                        <a:rPr b="0" i="0" lang="en"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800"/>
                        <a:buFont typeface="Calibri"/>
                        <a:buNone/>
                      </a:pPr>
                      <a:r>
                        <a:rPr b="0" i="0" lang="en"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550150">
                <a:tc>
                  <a:txBody>
                    <a:bodyPr/>
                    <a:lstStyle/>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
                        <a:t>   </a:t>
                      </a:r>
                      <a:endParaRPr/>
                    </a:p>
                    <a:p>
                      <a:pPr indent="0" lvl="0" marL="0" marR="0" rtl="0" algn="l">
                        <a:lnSpc>
                          <a:spcPct val="100000"/>
                        </a:lnSpc>
                        <a:spcBef>
                          <a:spcPts val="0"/>
                        </a:spcBef>
                        <a:spcAft>
                          <a:spcPts val="0"/>
                        </a:spcAft>
                        <a:buClr>
                          <a:srgbClr val="000000"/>
                        </a:buClr>
                        <a:buSzPts val="1400"/>
                        <a:buFont typeface="Arial"/>
                        <a:buNone/>
                      </a:pPr>
                      <a:r>
                        <a:rPr lang="en"/>
                        <a:t>       Rehaan Khan</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
                        <a:t>rehaankhan2207@gmail.com</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
                        <a:t>         9439677283</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63" name="Google Shape;63;p14" title="WhatsApp Image 2026-07-11 at 10.07.12.jpeg"/>
          <p:cNvPicPr preferRelativeResize="0"/>
          <p:nvPr/>
        </p:nvPicPr>
        <p:blipFill>
          <a:blip r:embed="rId3">
            <a:alphaModFix/>
          </a:blip>
          <a:stretch>
            <a:fillRect/>
          </a:stretch>
        </p:blipFill>
        <p:spPr>
          <a:xfrm>
            <a:off x="2702825" y="3571625"/>
            <a:ext cx="1139276" cy="1496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08851"/>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Font typeface="Arial"/>
              <a:buNone/>
            </a:pPr>
            <a:r>
              <a:rPr b="1" lang="en" sz="2178">
                <a:solidFill>
                  <a:srgbClr val="000000"/>
                </a:solidFill>
              </a:rPr>
              <a:t>Problem Statement -</a:t>
            </a:r>
            <a:endParaRPr b="1" sz="2178">
              <a:solidFill>
                <a:srgbClr val="000000"/>
              </a:solidFill>
            </a:endParaRPr>
          </a:p>
          <a:p>
            <a:pPr indent="0" lvl="0" marL="0" rtl="0" algn="l">
              <a:spcBef>
                <a:spcPts val="0"/>
              </a:spcBef>
              <a:spcAft>
                <a:spcPts val="0"/>
              </a:spcAft>
              <a:buNone/>
            </a:pPr>
            <a:r>
              <a:t/>
            </a:r>
            <a:endParaRPr/>
          </a:p>
        </p:txBody>
      </p:sp>
      <p:sp>
        <p:nvSpPr>
          <p:cNvPr id="69" name="Google Shape;69;p15"/>
          <p:cNvSpPr txBox="1"/>
          <p:nvPr>
            <p:ph idx="1" type="body"/>
          </p:nvPr>
        </p:nvSpPr>
        <p:spPr>
          <a:xfrm>
            <a:off x="311700" y="590850"/>
            <a:ext cx="8654700" cy="4782000"/>
          </a:xfrm>
          <a:prstGeom prst="rect">
            <a:avLst/>
          </a:prstGeom>
        </p:spPr>
        <p:txBody>
          <a:bodyPr anchorCtr="0" anchor="t" bIns="91425" lIns="91425" spcFirstLastPara="1" rIns="91425" wrap="square" tIns="91425">
            <a:normAutofit fontScale="47500" lnSpcReduction="10000"/>
          </a:bodyPr>
          <a:lstStyle/>
          <a:p>
            <a:pPr indent="0" lvl="0" marL="0" rtl="0" algn="l">
              <a:lnSpc>
                <a:spcPct val="100000"/>
              </a:lnSpc>
              <a:spcBef>
                <a:spcPts val="0"/>
              </a:spcBef>
              <a:spcAft>
                <a:spcPts val="0"/>
              </a:spcAft>
              <a:buNone/>
            </a:pPr>
            <a:r>
              <a:rPr b="1" lang="en" sz="3550">
                <a:solidFill>
                  <a:srgbClr val="000000"/>
                </a:solidFill>
              </a:rPr>
              <a:t>Problem Statement - Agentic Skincare AI Platform</a:t>
            </a:r>
            <a:endParaRPr b="1" sz="3550">
              <a:solidFill>
                <a:srgbClr val="000000"/>
              </a:solidFill>
            </a:endParaRPr>
          </a:p>
          <a:p>
            <a:pPr indent="0" lvl="0" marL="0" rtl="0" algn="l">
              <a:lnSpc>
                <a:spcPct val="100000"/>
              </a:lnSpc>
              <a:spcBef>
                <a:spcPts val="0"/>
              </a:spcBef>
              <a:spcAft>
                <a:spcPts val="0"/>
              </a:spcAft>
              <a:buNone/>
            </a:pPr>
            <a:r>
              <a:t/>
            </a:r>
            <a:endParaRPr b="1" sz="3112">
              <a:solidFill>
                <a:srgbClr val="000000"/>
              </a:solidFill>
            </a:endParaRPr>
          </a:p>
          <a:p>
            <a:pPr indent="0" lvl="0" marL="0" rtl="0" algn="l">
              <a:lnSpc>
                <a:spcPct val="100000"/>
              </a:lnSpc>
              <a:spcBef>
                <a:spcPts val="0"/>
              </a:spcBef>
              <a:spcAft>
                <a:spcPts val="0"/>
              </a:spcAft>
              <a:buClr>
                <a:schemeClr val="dk1"/>
              </a:buClr>
              <a:buFont typeface="Arial"/>
              <a:buNone/>
            </a:pPr>
            <a:r>
              <a:rPr b="1" lang="en" sz="3112">
                <a:solidFill>
                  <a:schemeClr val="dk1"/>
                </a:solidFill>
              </a:rPr>
              <a:t>The Challenge</a:t>
            </a:r>
            <a:r>
              <a:rPr lang="en" sz="3112">
                <a:solidFill>
                  <a:schemeClr val="dk1"/>
                </a:solidFill>
              </a:rPr>
              <a:t> </a:t>
            </a:r>
            <a:endParaRPr sz="3112">
              <a:solidFill>
                <a:schemeClr val="dk1"/>
              </a:solidFill>
            </a:endParaRPr>
          </a:p>
          <a:p>
            <a:pPr indent="0" lvl="0" marL="0" rtl="0" algn="l">
              <a:lnSpc>
                <a:spcPct val="100000"/>
              </a:lnSpc>
              <a:spcBef>
                <a:spcPts val="0"/>
              </a:spcBef>
              <a:spcAft>
                <a:spcPts val="0"/>
              </a:spcAft>
              <a:buNone/>
            </a:pPr>
            <a:r>
              <a:rPr lang="en" sz="3112">
                <a:solidFill>
                  <a:schemeClr val="dk1"/>
                </a:solidFill>
              </a:rPr>
              <a:t>Healthy skin is a core pillar of personal wellness and confidence, but individuals constantly struggle with complex routine planning, product ingredient compatibility, and tracking shifting skin conditions. Information regarding effective skincare ingredients, skin barriers, and disease-specific topical treatments is heavily scattered across unreliable social media trends and conflicting commercial sources. Without personalized, real-time clinical guidance, many fail to maintain a balanced skin barrier, use incompatible active ingredients simultaneously, or make informed product choices.</a:t>
            </a:r>
            <a:endParaRPr sz="3112">
              <a:solidFill>
                <a:schemeClr val="dk1"/>
              </a:solidFill>
            </a:endParaRPr>
          </a:p>
          <a:p>
            <a:pPr indent="0" lvl="0" marL="0" rtl="0" algn="l">
              <a:lnSpc>
                <a:spcPct val="100000"/>
              </a:lnSpc>
              <a:spcBef>
                <a:spcPts val="0"/>
              </a:spcBef>
              <a:spcAft>
                <a:spcPts val="0"/>
              </a:spcAft>
              <a:buNone/>
            </a:pPr>
            <a:r>
              <a:t/>
            </a:r>
            <a:endParaRPr sz="3112">
              <a:solidFill>
                <a:schemeClr val="dk1"/>
              </a:solidFill>
            </a:endParaRPr>
          </a:p>
          <a:p>
            <a:pPr indent="0" lvl="0" marL="0" rtl="0" algn="l">
              <a:lnSpc>
                <a:spcPct val="100000"/>
              </a:lnSpc>
              <a:spcBef>
                <a:spcPts val="0"/>
              </a:spcBef>
              <a:spcAft>
                <a:spcPts val="0"/>
              </a:spcAft>
              <a:buNone/>
            </a:pPr>
            <a:r>
              <a:rPr b="1" lang="en" sz="3533">
                <a:solidFill>
                  <a:schemeClr val="dk1"/>
                </a:solidFill>
              </a:rPr>
              <a:t>The Objective</a:t>
            </a:r>
            <a:endParaRPr b="1" sz="3533">
              <a:solidFill>
                <a:schemeClr val="dk1"/>
              </a:solidFill>
            </a:endParaRPr>
          </a:p>
          <a:p>
            <a:pPr indent="0" lvl="0" marL="0" rtl="0" algn="l">
              <a:lnSpc>
                <a:spcPct val="100000"/>
              </a:lnSpc>
              <a:spcBef>
                <a:spcPts val="0"/>
              </a:spcBef>
              <a:spcAft>
                <a:spcPts val="0"/>
              </a:spcAft>
              <a:buNone/>
            </a:pPr>
            <a:r>
              <a:t/>
            </a:r>
            <a:endParaRPr b="1" sz="3112">
              <a:solidFill>
                <a:schemeClr val="dk1"/>
              </a:solidFill>
            </a:endParaRPr>
          </a:p>
          <a:p>
            <a:pPr indent="0" lvl="0" marL="0" rtl="0" algn="l">
              <a:lnSpc>
                <a:spcPct val="100000"/>
              </a:lnSpc>
              <a:spcBef>
                <a:spcPts val="0"/>
              </a:spcBef>
              <a:spcAft>
                <a:spcPts val="0"/>
              </a:spcAft>
              <a:buClr>
                <a:schemeClr val="dk1"/>
              </a:buClr>
              <a:buSzPct val="35343"/>
              <a:buFont typeface="Arial"/>
              <a:buNone/>
            </a:pPr>
            <a:r>
              <a:rPr b="1" lang="en" sz="3112">
                <a:solidFill>
                  <a:schemeClr val="dk1"/>
                </a:solidFill>
              </a:rPr>
              <a:t>Democratize Clinical Dermatology</a:t>
            </a:r>
            <a:r>
              <a:rPr lang="en" sz="3112">
                <a:solidFill>
                  <a:schemeClr val="dk1"/>
                </a:solidFill>
              </a:rPr>
              <a:t> – Provide individuals with instant, reliable access to personalized skincare guidance, filtering out confusing social media trends and unverified commercial product claims.</a:t>
            </a:r>
            <a:endParaRPr sz="3112">
              <a:solidFill>
                <a:schemeClr val="dk1"/>
              </a:solidFill>
            </a:endParaRPr>
          </a:p>
          <a:p>
            <a:pPr indent="0" lvl="0" marL="0" rtl="0" algn="l">
              <a:lnSpc>
                <a:spcPct val="100000"/>
              </a:lnSpc>
              <a:spcBef>
                <a:spcPts val="0"/>
              </a:spcBef>
              <a:spcAft>
                <a:spcPts val="0"/>
              </a:spcAft>
              <a:buClr>
                <a:schemeClr val="dk1"/>
              </a:buClr>
              <a:buSzPct val="35343"/>
              <a:buFont typeface="Arial"/>
              <a:buNone/>
            </a:pPr>
            <a:r>
              <a:rPr b="1" lang="en" sz="3112">
                <a:solidFill>
                  <a:schemeClr val="dk1"/>
                </a:solidFill>
              </a:rPr>
              <a:t>Prevent Active Barrier Damage</a:t>
            </a:r>
            <a:r>
              <a:rPr lang="en" sz="3112">
                <a:solidFill>
                  <a:schemeClr val="dk1"/>
                </a:solidFill>
              </a:rPr>
              <a:t> – Protect user skin health by cross-referencing active ingredients against scientific boundaries to eliminate harmful product collisions and contraindications.</a:t>
            </a:r>
            <a:endParaRPr sz="3112">
              <a:solidFill>
                <a:schemeClr val="dk1"/>
              </a:solidFill>
            </a:endParaRPr>
          </a:p>
          <a:p>
            <a:pPr indent="0" lvl="0" marL="0" rtl="0" algn="l">
              <a:lnSpc>
                <a:spcPct val="100000"/>
              </a:lnSpc>
              <a:spcBef>
                <a:spcPts val="0"/>
              </a:spcBef>
              <a:spcAft>
                <a:spcPts val="0"/>
              </a:spcAft>
              <a:buClr>
                <a:schemeClr val="dk1"/>
              </a:buClr>
              <a:buSzPct val="35343"/>
              <a:buFont typeface="Arial"/>
              <a:buNone/>
            </a:pPr>
            <a:r>
              <a:rPr b="1" lang="en" sz="3112">
                <a:solidFill>
                  <a:schemeClr val="dk1"/>
                </a:solidFill>
              </a:rPr>
              <a:t>Bridge Custom Frontends with Advanced AI</a:t>
            </a:r>
            <a:r>
              <a:rPr lang="en" sz="3112">
                <a:solidFill>
                  <a:schemeClr val="dk1"/>
                </a:solidFill>
              </a:rPr>
              <a:t> – Enable modern, stylized user interfaces to leverage specialized foundation models dynamically through clean, seamless tool orchestration.</a:t>
            </a:r>
            <a:endParaRPr sz="3112">
              <a:solidFill>
                <a:schemeClr val="dk1"/>
              </a:solidFill>
            </a:endParaRPr>
          </a:p>
          <a:p>
            <a:pPr indent="0" lvl="0" marL="0" rtl="0" algn="l">
              <a:lnSpc>
                <a:spcPct val="100000"/>
              </a:lnSpc>
              <a:spcBef>
                <a:spcPts val="0"/>
              </a:spcBef>
              <a:spcAft>
                <a:spcPts val="0"/>
              </a:spcAft>
              <a:buNone/>
            </a:pPr>
            <a:r>
              <a:t/>
            </a:r>
            <a:endParaRPr sz="1882">
              <a:solidFill>
                <a:schemeClr val="dk1"/>
              </a:solidFill>
            </a:endParaRPr>
          </a:p>
          <a:p>
            <a:pPr indent="0" lvl="0" marL="0" rtl="0" algn="l">
              <a:lnSpc>
                <a:spcPct val="100000"/>
              </a:lnSpc>
              <a:spcBef>
                <a:spcPts val="0"/>
              </a:spcBef>
              <a:spcAft>
                <a:spcPts val="0"/>
              </a:spcAft>
              <a:buNone/>
            </a:pPr>
            <a:r>
              <a:t/>
            </a:r>
            <a:endParaRPr sz="2000">
              <a:solidFill>
                <a:schemeClr val="dk1"/>
              </a:solidFill>
            </a:endParaRPr>
          </a:p>
          <a:p>
            <a:pPr indent="0" lvl="0" marL="0" rtl="0" algn="l">
              <a:lnSpc>
                <a:spcPct val="100000"/>
              </a:lnSpc>
              <a:spcBef>
                <a:spcPts val="0"/>
              </a:spcBef>
              <a:spcAft>
                <a:spcPts val="0"/>
              </a:spcAft>
              <a:buClr>
                <a:schemeClr val="dk1"/>
              </a:buClr>
              <a:buSzPct val="55000"/>
              <a:buFont typeface="Arial"/>
              <a:buNone/>
            </a:pPr>
            <a:r>
              <a:t/>
            </a:r>
            <a:endParaRPr sz="2000">
              <a:solidFill>
                <a:schemeClr val="dk1"/>
              </a:solidFill>
            </a:endParaRPr>
          </a:p>
          <a:p>
            <a:pPr indent="0" lvl="0" marL="0" rtl="0" algn="l">
              <a:lnSpc>
                <a:spcPct val="100000"/>
              </a:lnSpc>
              <a:spcBef>
                <a:spcPts val="0"/>
              </a:spcBef>
              <a:spcAft>
                <a:spcPts val="0"/>
              </a:spcAft>
              <a:buClr>
                <a:schemeClr val="dk1"/>
              </a:buClr>
              <a:buFont typeface="Arial"/>
              <a:buNone/>
            </a:pPr>
            <a:r>
              <a:t/>
            </a:r>
            <a:endParaRPr sz="14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4131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Font typeface="Arial"/>
              <a:buNone/>
            </a:pPr>
            <a:r>
              <a:rPr b="1" lang="en" sz="2200">
                <a:solidFill>
                  <a:srgbClr val="000000"/>
                </a:solidFill>
              </a:rPr>
              <a:t>Proposed Solution -</a:t>
            </a:r>
            <a:endParaRPr b="1" sz="2200">
              <a:solidFill>
                <a:srgbClr val="000000"/>
              </a:solidFill>
            </a:endParaRPr>
          </a:p>
          <a:p>
            <a:pPr indent="0" lvl="0" marL="0" rtl="0" algn="l">
              <a:spcBef>
                <a:spcPts val="0"/>
              </a:spcBef>
              <a:spcAft>
                <a:spcPts val="0"/>
              </a:spcAft>
              <a:buNone/>
            </a:pPr>
            <a:r>
              <a:t/>
            </a:r>
            <a:endParaRPr/>
          </a:p>
        </p:txBody>
      </p:sp>
      <p:sp>
        <p:nvSpPr>
          <p:cNvPr id="75" name="Google Shape;75;p16"/>
          <p:cNvSpPr txBox="1"/>
          <p:nvPr>
            <p:ph idx="1" type="body"/>
          </p:nvPr>
        </p:nvSpPr>
        <p:spPr>
          <a:xfrm>
            <a:off x="311700" y="597375"/>
            <a:ext cx="8520600" cy="437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Multi-Agent Workflow Engine</a:t>
            </a:r>
            <a:r>
              <a:rPr lang="en" sz="1600">
                <a:solidFill>
                  <a:schemeClr val="dk1"/>
                </a:solidFill>
              </a:rPr>
              <a:t> –</a:t>
            </a:r>
            <a:endParaRPr sz="16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sz="1400">
                <a:solidFill>
                  <a:schemeClr val="dk1"/>
                </a:solidFill>
              </a:rPr>
              <a:t>Intent &amp; Profiling Agent (Core Orchestrator):</a:t>
            </a:r>
            <a:r>
              <a:rPr lang="en" sz="1400">
                <a:solidFill>
                  <a:schemeClr val="dk1"/>
                </a:solidFill>
              </a:rPr>
              <a:t> Dynamically chats with the user, handles session context, and manages workflow loops using the standard platform brain.</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400">
                <a:solidFill>
                  <a:schemeClr val="dk1"/>
                </a:solidFill>
              </a:rPr>
              <a:t>Clinical Ingredient Knowledge Base (RAG Integration):</a:t>
            </a:r>
            <a:r>
              <a:rPr lang="en" sz="1400">
                <a:solidFill>
                  <a:schemeClr val="dk1"/>
                </a:solidFill>
              </a:rPr>
              <a:t> A curated, secure data repository connected directly via Retrieval-Augmented Generation (RAG) to instantly pull scientific research regarding ingredient interactions, safety limits, and contraindications.</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00000"/>
              </a:lnSpc>
              <a:spcBef>
                <a:spcPts val="0"/>
              </a:spcBef>
              <a:spcAft>
                <a:spcPts val="0"/>
              </a:spcAft>
              <a:buNone/>
            </a:pPr>
            <a:r>
              <a:rPr b="1" lang="en" sz="1400">
                <a:solidFill>
                  <a:schemeClr val="dk1"/>
                </a:solidFill>
              </a:rPr>
              <a:t>Dermatological Recommendation Agent (Specialized Tool):</a:t>
            </a:r>
            <a:r>
              <a:rPr lang="en" sz="1400">
                <a:solidFill>
                  <a:schemeClr val="dk1"/>
                </a:solidFill>
              </a:rPr>
              <a:t> Invokes the dedicated </a:t>
            </a:r>
            <a:r>
              <a:rPr b="1" lang="en" sz="1400">
                <a:solidFill>
                  <a:srgbClr val="188038"/>
                </a:solidFill>
                <a:latin typeface="Roboto Mono"/>
                <a:ea typeface="Roboto Mono"/>
                <a:cs typeface="Roboto Mono"/>
                <a:sym typeface="Roboto Mono"/>
              </a:rPr>
              <a:t>ibm/granite-4-h-small</a:t>
            </a:r>
            <a:r>
              <a:rPr lang="en" sz="1400">
                <a:solidFill>
                  <a:schemeClr val="dk1"/>
                </a:solidFill>
              </a:rPr>
              <a:t> model via a custom OpenAPI schema integration </a:t>
            </a:r>
            <a:r>
              <a:rPr b="1" lang="en" sz="1400">
                <a:solidFill>
                  <a:srgbClr val="188038"/>
                </a:solidFill>
                <a:latin typeface="Roboto Mono"/>
                <a:ea typeface="Roboto Mono"/>
                <a:cs typeface="Roboto Mono"/>
                <a:sym typeface="Roboto Mono"/>
              </a:rPr>
              <a:t>skincare_granite.json (</a:t>
            </a:r>
            <a:r>
              <a:rPr b="1" lang="en" sz="1400" u="sng">
                <a:solidFill>
                  <a:schemeClr val="hlink"/>
                </a:solidFill>
                <a:latin typeface="Roboto Mono"/>
                <a:ea typeface="Roboto Mono"/>
                <a:cs typeface="Roboto Mono"/>
                <a:sym typeface="Roboto Mono"/>
                <a:hlinkClick r:id="rId3"/>
              </a:rPr>
              <a:t>https://drive.google.com/file/d/1z1UNiC8fIQpVULtM2pCVtkxyv8LbCYDl/view?usp=drive_link</a:t>
            </a:r>
            <a:r>
              <a:rPr b="1" lang="en" sz="1400">
                <a:solidFill>
                  <a:srgbClr val="188038"/>
                </a:solidFill>
                <a:latin typeface="Roboto Mono"/>
                <a:ea typeface="Roboto Mono"/>
                <a:cs typeface="Roboto Mono"/>
                <a:sym typeface="Roboto Mono"/>
              </a:rPr>
              <a:t>)</a:t>
            </a:r>
            <a:r>
              <a:rPr lang="en" sz="1400">
                <a:solidFill>
                  <a:schemeClr val="dk1"/>
                </a:solidFill>
              </a:rPr>
              <a:t> to handle clinical reasoning, process prompt telemetry, and construct the structured 3-step clinical routine.</a:t>
            </a:r>
            <a:endParaRPr sz="1400">
              <a:solidFill>
                <a:schemeClr val="dk1"/>
              </a:solidFill>
            </a:endParaRPr>
          </a:p>
          <a:p>
            <a:pPr indent="0" lvl="0" marL="0" rtl="0" algn="l">
              <a:lnSpc>
                <a:spcPct val="100000"/>
              </a:lnSpc>
              <a:spcBef>
                <a:spcPts val="0"/>
              </a:spcBef>
              <a:spcAft>
                <a:spcPts val="0"/>
              </a:spcAft>
              <a:buNone/>
            </a:pPr>
            <a:r>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400">
                <a:solidFill>
                  <a:schemeClr val="dk1"/>
                </a:solidFill>
              </a:rPr>
              <a:t>Telemetry Mapping &amp; Boundary Validation</a:t>
            </a:r>
            <a:r>
              <a:rPr lang="en" sz="1400">
                <a:solidFill>
                  <a:schemeClr val="dk1"/>
                </a:solidFill>
              </a:rPr>
              <a:t> – Validates user states and controls active profiles strictly against the architectural rules defined in </a:t>
            </a:r>
            <a:r>
              <a:rPr b="1" lang="en" sz="1400">
                <a:solidFill>
                  <a:srgbClr val="188038"/>
                </a:solidFill>
              </a:rPr>
              <a:t>skincare_telemetry_bounds.txt</a:t>
            </a:r>
            <a:r>
              <a:rPr lang="en" sz="1400">
                <a:solidFill>
                  <a:srgbClr val="188038"/>
                </a:solidFill>
              </a:rPr>
              <a:t> </a:t>
            </a:r>
            <a:r>
              <a:rPr b="1" lang="en" sz="1400" u="sng">
                <a:solidFill>
                  <a:schemeClr val="hlink"/>
                </a:solidFill>
                <a:hlinkClick r:id="rId4"/>
              </a:rPr>
              <a:t>https://drive.google.com/file/d/1l41EM21D3M0fufQLzHzU0rKEkbvGak0T/view?usp=drive_link</a:t>
            </a:r>
            <a:r>
              <a:rPr lang="en" sz="1400">
                <a:solidFill>
                  <a:schemeClr val="dk1"/>
                </a:solidFill>
              </a:rPr>
              <a:t> before shipping inputs to the underlying foundation model.</a:t>
            </a:r>
            <a:endParaRPr sz="1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58879"/>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Font typeface="Arial"/>
              <a:buNone/>
            </a:pPr>
            <a:r>
              <a:rPr b="1" lang="en" sz="1950"/>
              <a:t>Technology Used -</a:t>
            </a:r>
            <a:endParaRPr sz="1950"/>
          </a:p>
        </p:txBody>
      </p:sp>
      <p:sp>
        <p:nvSpPr>
          <p:cNvPr id="81" name="Google Shape;81;p17"/>
          <p:cNvSpPr txBox="1"/>
          <p:nvPr>
            <p:ph idx="1" type="body"/>
          </p:nvPr>
        </p:nvSpPr>
        <p:spPr>
          <a:xfrm>
            <a:off x="311700" y="7116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chemeClr val="dk1"/>
                </a:solidFill>
              </a:rPr>
              <a:t>Frontend:</a:t>
            </a:r>
            <a:r>
              <a:rPr lang="en" sz="1400">
                <a:solidFill>
                  <a:schemeClr val="dk1"/>
                </a:solidFill>
              </a:rPr>
              <a:t> HTML5, CSS3 (Glassmorphism), and JavaScript (ES6+). Delivers a high-fidelity, responsive, and completely client-side user interface.</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Backend:</a:t>
            </a:r>
            <a:r>
              <a:rPr lang="en" sz="1400">
                <a:solidFill>
                  <a:schemeClr val="dk1"/>
                </a:solidFill>
              </a:rPr>
              <a:t> FastAPI (Python 3.10+), Uvicorn, and HTTPX. Acts as a secure gateway managing CORS, state validation, and integrations.</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Development IDE:</a:t>
            </a:r>
            <a:r>
              <a:rPr lang="en" sz="1400">
                <a:solidFill>
                  <a:schemeClr val="dk1"/>
                </a:solidFill>
              </a:rPr>
              <a:t> IBM Bob. AI-assisted development environment used for code generation, debugging, and workflow acceleration.</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AI Orchestration:</a:t>
            </a:r>
            <a:r>
              <a:rPr lang="en" sz="1400">
                <a:solidFill>
                  <a:schemeClr val="dk1"/>
                </a:solidFill>
              </a:rPr>
              <a:t> IBM watsonx Orchestrate. Coordinates multi-model routing workflows and handles conversational runtime logic.</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Foundational Models:</a:t>
            </a:r>
            <a:r>
              <a:rPr lang="en" sz="1400">
                <a:solidFill>
                  <a:schemeClr val="dk1"/>
                </a:solidFill>
              </a:rPr>
              <a:t> IBM Granite 4h Small &amp; GPT-OSS 120B. Enterprise LLMs utilized for deep clinical reasoning and structured skincare routines.</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Hosting (API):</a:t>
            </a:r>
            <a:r>
              <a:rPr lang="en" sz="1400">
                <a:solidFill>
                  <a:schemeClr val="dk1"/>
                </a:solidFill>
              </a:rPr>
              <a:t> Render. Hosts the containerized Python backend environment featuring automated continuous deployment pipelines.</a:t>
            </a:r>
            <a:endParaRPr sz="1400">
              <a:solidFill>
                <a:schemeClr val="dk1"/>
              </a:solidFill>
            </a:endParaRPr>
          </a:p>
          <a:p>
            <a:pPr indent="0" lvl="0" marL="0" rtl="0" algn="l">
              <a:spcBef>
                <a:spcPts val="1200"/>
              </a:spcBef>
              <a:spcAft>
                <a:spcPts val="1200"/>
              </a:spcAft>
              <a:buNone/>
            </a:pPr>
            <a:r>
              <a:rPr b="1" lang="en" sz="1400">
                <a:solidFill>
                  <a:schemeClr val="dk1"/>
                </a:solidFill>
              </a:rPr>
              <a:t>Hosting (UI):</a:t>
            </a:r>
            <a:r>
              <a:rPr lang="en" sz="1400">
                <a:solidFill>
                  <a:schemeClr val="dk1"/>
                </a:solidFill>
              </a:rPr>
              <a:t> Vercel. Serves static UI assets globally via a high-speed Content Delivery Network (CDN).</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141314"/>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Font typeface="Arial"/>
              <a:buNone/>
            </a:pPr>
            <a:r>
              <a:rPr b="1" lang="en" sz="2000">
                <a:latin typeface="Calibri"/>
                <a:ea typeface="Calibri"/>
                <a:cs typeface="Calibri"/>
                <a:sym typeface="Calibri"/>
              </a:rPr>
              <a:t>Architecture Blueprint</a:t>
            </a:r>
            <a:endParaRPr sz="2400"/>
          </a:p>
        </p:txBody>
      </p:sp>
      <p:pic>
        <p:nvPicPr>
          <p:cNvPr id="87" name="Google Shape;87;p18" title="mermaid-diagram (1).png"/>
          <p:cNvPicPr preferRelativeResize="0"/>
          <p:nvPr/>
        </p:nvPicPr>
        <p:blipFill>
          <a:blip r:embed="rId3">
            <a:alphaModFix/>
          </a:blip>
          <a:stretch>
            <a:fillRect/>
          </a:stretch>
        </p:blipFill>
        <p:spPr>
          <a:xfrm>
            <a:off x="168500" y="599449"/>
            <a:ext cx="8595901" cy="42253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14224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Font typeface="Arial"/>
              <a:buNone/>
            </a:pPr>
            <a:r>
              <a:rPr b="1" lang="en" sz="2000"/>
              <a:t>R</a:t>
            </a:r>
            <a:r>
              <a:rPr b="1" lang="en" sz="2000"/>
              <a:t>ole of Agentic AI in the solution</a:t>
            </a:r>
            <a:endParaRPr sz="2000"/>
          </a:p>
        </p:txBody>
      </p:sp>
      <p:sp>
        <p:nvSpPr>
          <p:cNvPr id="93" name="Google Shape;93;p19"/>
          <p:cNvSpPr txBox="1"/>
          <p:nvPr>
            <p:ph idx="1" type="body"/>
          </p:nvPr>
        </p:nvSpPr>
        <p:spPr>
          <a:xfrm>
            <a:off x="311700" y="607300"/>
            <a:ext cx="4984800" cy="4277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400">
                <a:solidFill>
                  <a:schemeClr val="dk1"/>
                </a:solidFill>
              </a:rPr>
              <a:t>Unlike traditional, rigid software that relies on static decision trees, Agentic AI serves as the intelligent operational core of this platform by shifting from basic pattern matching to autonomous problem-solving and task delegation. The system utilizes </a:t>
            </a:r>
            <a:r>
              <a:rPr lang="en" sz="1400">
                <a:solidFill>
                  <a:srgbClr val="188038"/>
                </a:solidFill>
                <a:latin typeface="Roboto Mono"/>
                <a:ea typeface="Roboto Mono"/>
                <a:cs typeface="Roboto Mono"/>
                <a:sym typeface="Roboto Mono"/>
              </a:rPr>
              <a:t>GPT-OSS 120B</a:t>
            </a:r>
            <a:r>
              <a:rPr lang="en" sz="1400">
                <a:solidFill>
                  <a:schemeClr val="dk1"/>
                </a:solidFill>
              </a:rPr>
              <a:t> as a central orchestrator to dynamically analyze user intent, manage complex state context, and efficiently capture structured telemetry inputs and selections directly from the user interface. Once these personal parameters are collected, the agent autonomously evaluates the workflow and delegates specialized workloads—routing clinical reasoning tasks directly to the </a:t>
            </a:r>
            <a:r>
              <a:rPr lang="en" sz="1400">
                <a:solidFill>
                  <a:srgbClr val="188038"/>
                </a:solidFill>
                <a:latin typeface="Roboto Mono"/>
                <a:ea typeface="Roboto Mono"/>
                <a:cs typeface="Roboto Mono"/>
                <a:sym typeface="Roboto Mono"/>
              </a:rPr>
              <a:t>ibm/granite-4-h-small</a:t>
            </a:r>
            <a:r>
              <a:rPr lang="en" sz="1400">
                <a:solidFill>
                  <a:schemeClr val="dk1"/>
                </a:solidFill>
              </a:rPr>
              <a:t> foundation model via a custom OpenAPI schema, while simultaneously querying the RAG knowledge base for safety constraints. By acting as an independent decision-maker that evaluates boundaries, manages API dependencies, and synthesizes multi-model outputs, Agentic AI transforms a standard input selection interface into a fully integrated, automated clinical engineering pipeline.</a:t>
            </a:r>
            <a:endParaRPr sz="2100"/>
          </a:p>
        </p:txBody>
      </p:sp>
      <p:pic>
        <p:nvPicPr>
          <p:cNvPr id="94" name="Google Shape;94;p19" title="WhatsApp Image 2026-07-11 at 12.41.42.jpeg"/>
          <p:cNvPicPr preferRelativeResize="0"/>
          <p:nvPr/>
        </p:nvPicPr>
        <p:blipFill>
          <a:blip r:embed="rId3">
            <a:alphaModFix/>
          </a:blip>
          <a:stretch>
            <a:fillRect/>
          </a:stretch>
        </p:blipFill>
        <p:spPr>
          <a:xfrm>
            <a:off x="5803425" y="349375"/>
            <a:ext cx="3028876" cy="4895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111922"/>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020"/>
              <a:t>Custom Skill Integration &amp; Agent Testing Dashboard</a:t>
            </a:r>
            <a:endParaRPr b="1" sz="2020"/>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1" name="Google Shape;101;p20" title="Screenshot From 2026-07-11 13-01-09.png"/>
          <p:cNvPicPr preferRelativeResize="0"/>
          <p:nvPr/>
        </p:nvPicPr>
        <p:blipFill>
          <a:blip r:embed="rId3">
            <a:alphaModFix/>
          </a:blip>
          <a:stretch>
            <a:fillRect/>
          </a:stretch>
        </p:blipFill>
        <p:spPr>
          <a:xfrm>
            <a:off x="266475" y="612325"/>
            <a:ext cx="8565823" cy="43303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131516"/>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020"/>
              <a:t>User Interface &amp; Dynamic Routine Generation</a:t>
            </a:r>
            <a:endParaRPr b="1" sz="2020"/>
          </a:p>
        </p:txBody>
      </p:sp>
      <p:pic>
        <p:nvPicPr>
          <p:cNvPr id="107" name="Google Shape;107;p21" title="Screenshot From 2026-07-11 13-13-05.png"/>
          <p:cNvPicPr preferRelativeResize="0"/>
          <p:nvPr/>
        </p:nvPicPr>
        <p:blipFill>
          <a:blip r:embed="rId3">
            <a:alphaModFix/>
          </a:blip>
          <a:stretch>
            <a:fillRect/>
          </a:stretch>
        </p:blipFill>
        <p:spPr>
          <a:xfrm>
            <a:off x="311700" y="586625"/>
            <a:ext cx="8520599" cy="45568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61842"/>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Font typeface="Arial"/>
              <a:buNone/>
            </a:pPr>
            <a:r>
              <a:rPr b="1" lang="en" sz="2100"/>
              <a:t>Novelty and Uniqueness</a:t>
            </a:r>
            <a:endParaRPr sz="2500"/>
          </a:p>
        </p:txBody>
      </p:sp>
      <p:sp>
        <p:nvSpPr>
          <p:cNvPr id="113" name="Google Shape;113;p22"/>
          <p:cNvSpPr txBox="1"/>
          <p:nvPr>
            <p:ph idx="1" type="body"/>
          </p:nvPr>
        </p:nvSpPr>
        <p:spPr>
          <a:xfrm>
            <a:off x="311700" y="1133125"/>
            <a:ext cx="8520600" cy="371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solidFill>
                  <a:schemeClr val="dk1"/>
                </a:solidFill>
              </a:rPr>
              <a:t>Multi-Model Asynchronous Orchestration:</a:t>
            </a:r>
            <a:r>
              <a:rPr lang="en" sz="1700">
                <a:solidFill>
                  <a:schemeClr val="dk1"/>
                </a:solidFill>
              </a:rPr>
              <a:t> Uniquely decouples system concerns by combining a high-speed runtime gateway (</a:t>
            </a:r>
            <a:r>
              <a:rPr lang="en" sz="1700">
                <a:solidFill>
                  <a:srgbClr val="188038"/>
                </a:solidFill>
                <a:latin typeface="Roboto Mono"/>
                <a:ea typeface="Roboto Mono"/>
                <a:cs typeface="Roboto Mono"/>
                <a:sym typeface="Roboto Mono"/>
              </a:rPr>
              <a:t>FastAPI</a:t>
            </a:r>
            <a:r>
              <a:rPr lang="en" sz="1700">
                <a:solidFill>
                  <a:schemeClr val="dk1"/>
                </a:solidFill>
              </a:rPr>
              <a:t>) with an enterprise orchestrator (</a:t>
            </a:r>
            <a:r>
              <a:rPr lang="en" sz="1700">
                <a:solidFill>
                  <a:srgbClr val="188038"/>
                </a:solidFill>
                <a:latin typeface="Roboto Mono"/>
                <a:ea typeface="Roboto Mono"/>
                <a:cs typeface="Roboto Mono"/>
                <a:sym typeface="Roboto Mono"/>
              </a:rPr>
              <a:t>GPT-OSS 120B</a:t>
            </a:r>
            <a:r>
              <a:rPr lang="en" sz="1700">
                <a:solidFill>
                  <a:schemeClr val="dk1"/>
                </a:solidFill>
              </a:rPr>
              <a:t>) to handle dynamic user telemetry without session or token expiration vulnerabilities.</a:t>
            </a:r>
            <a:endParaRPr sz="1700">
              <a:solidFill>
                <a:schemeClr val="dk1"/>
              </a:solidFill>
            </a:endParaRPr>
          </a:p>
          <a:p>
            <a:pPr indent="0" lvl="0" marL="0" rtl="0" algn="l">
              <a:spcBef>
                <a:spcPts val="1200"/>
              </a:spcBef>
              <a:spcAft>
                <a:spcPts val="0"/>
              </a:spcAft>
              <a:buNone/>
            </a:pPr>
            <a:r>
              <a:rPr b="1" lang="en" sz="1700">
                <a:solidFill>
                  <a:schemeClr val="dk1"/>
                </a:solidFill>
              </a:rPr>
              <a:t>Deterministic Guardrails for Generative AI:</a:t>
            </a:r>
            <a:r>
              <a:rPr lang="en" sz="1700">
                <a:solidFill>
                  <a:schemeClr val="dk1"/>
                </a:solidFill>
              </a:rPr>
              <a:t> Replaces unpredictable LLM output behaviors with real-time, rule-based boundary enforcement (</a:t>
            </a:r>
            <a:r>
              <a:rPr lang="en" sz="1700">
                <a:solidFill>
                  <a:srgbClr val="188038"/>
                </a:solidFill>
                <a:latin typeface="Roboto Mono"/>
                <a:ea typeface="Roboto Mono"/>
                <a:cs typeface="Roboto Mono"/>
                <a:sym typeface="Roboto Mono"/>
              </a:rPr>
              <a:t>skincare_telemetry_bounds.txt</a:t>
            </a:r>
            <a:r>
              <a:rPr lang="en" sz="1700">
                <a:solidFill>
                  <a:schemeClr val="dk1"/>
                </a:solidFill>
              </a:rPr>
              <a:t>), guaranteeing clinically safe ingredient combinations before foundation model processing.</a:t>
            </a:r>
            <a:endParaRPr sz="1700"/>
          </a:p>
          <a:p>
            <a:pPr indent="0" lvl="0" marL="0" rtl="0" algn="l">
              <a:spcBef>
                <a:spcPts val="1200"/>
              </a:spcBef>
              <a:spcAft>
                <a:spcPts val="0"/>
              </a:spcAft>
              <a:buClr>
                <a:schemeClr val="dk1"/>
              </a:buClr>
              <a:buSzPts val="1100"/>
              <a:buFont typeface="Arial"/>
              <a:buNone/>
            </a:pPr>
            <a:r>
              <a:rPr lang="en" sz="1700">
                <a:solidFill>
                  <a:srgbClr val="1F1F1F"/>
                </a:solidFill>
              </a:rPr>
              <a:t>By bridging flexible consumer frontends with rigid enterprise AI orchestration and deterministic safety guardrails, this architecture delivers clinical-grade personalization with total operational reliability.</a:t>
            </a:r>
            <a:endParaRPr sz="1700">
              <a:solidFill>
                <a:srgbClr val="1F1F1F"/>
              </a:solidFill>
            </a:endParaRPr>
          </a:p>
          <a:p>
            <a:pPr indent="0" lvl="0" marL="0" rtl="0" algn="l">
              <a:spcBef>
                <a:spcPts val="0"/>
              </a:spcBef>
              <a:spcAft>
                <a:spcPts val="1200"/>
              </a:spcAft>
              <a:buNone/>
            </a:pPr>
            <a:r>
              <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00"/>
              <a:t>Important Links</a:t>
            </a:r>
            <a:endParaRPr b="1" sz="2400"/>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Github Repository Link - </a:t>
            </a:r>
            <a:r>
              <a:rPr lang="en" u="sng">
                <a:solidFill>
                  <a:schemeClr val="hlink"/>
                </a:solidFill>
                <a:hlinkClick r:id="rId3"/>
              </a:rPr>
              <a:t>https://github.com/RehaanKhan2207/Skincare-Concierge</a:t>
            </a:r>
            <a:endParaRPr>
              <a:solidFill>
                <a:schemeClr val="dk1"/>
              </a:solidFill>
            </a:endParaRPr>
          </a:p>
          <a:p>
            <a:pPr indent="0" lvl="0" marL="0" rtl="0" algn="l">
              <a:spcBef>
                <a:spcPts val="1200"/>
              </a:spcBef>
              <a:spcAft>
                <a:spcPts val="0"/>
              </a:spcAft>
              <a:buNone/>
            </a:pPr>
            <a:r>
              <a:rPr b="1" lang="en">
                <a:solidFill>
                  <a:schemeClr val="dk1"/>
                </a:solidFill>
              </a:rPr>
              <a:t>Frontend UI Link - </a:t>
            </a:r>
            <a:r>
              <a:rPr lang="en" u="sng">
                <a:solidFill>
                  <a:schemeClr val="hlink"/>
                </a:solidFill>
                <a:hlinkClick r:id="rId4"/>
              </a:rPr>
              <a:t>https://skincare-concierge.vercel.app/</a:t>
            </a:r>
            <a:endParaRPr>
              <a:solidFill>
                <a:schemeClr val="dk1"/>
              </a:solidFill>
            </a:endParaRPr>
          </a:p>
          <a:p>
            <a:pPr indent="0" lvl="0" marL="0" rtl="0" algn="l">
              <a:spcBef>
                <a:spcPts val="1200"/>
              </a:spcBef>
              <a:spcAft>
                <a:spcPts val="1200"/>
              </a:spcAft>
              <a:buNone/>
            </a:pPr>
            <a:r>
              <a:rPr b="1" lang="en">
                <a:solidFill>
                  <a:schemeClr val="dk1"/>
                </a:solidFill>
              </a:rPr>
              <a:t>Backend API Link - </a:t>
            </a:r>
            <a:r>
              <a:rPr lang="en" u="sng">
                <a:solidFill>
                  <a:schemeClr val="hlink"/>
                </a:solidFill>
                <a:hlinkClick r:id="rId5"/>
              </a:rPr>
              <a:t>https://skincare-concierge.onrender.com</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541089"/>
            <a:ext cx="8520600" cy="572700"/>
          </a:xfrm>
          <a:prstGeom prst="rect">
            <a:avLst/>
          </a:prstGeom>
        </p:spPr>
        <p:txBody>
          <a:bodyPr anchorCtr="0" anchor="t" bIns="91425" lIns="91425" spcFirstLastPara="1" rIns="91425" wrap="square" tIns="91425">
            <a:normAutofit/>
          </a:bodyPr>
          <a:lstStyle/>
          <a:p>
            <a:pPr indent="0" lvl="0" marL="0" rtl="0" algn="l">
              <a:lnSpc>
                <a:spcPct val="157142"/>
              </a:lnSpc>
              <a:spcBef>
                <a:spcPts val="0"/>
              </a:spcBef>
              <a:spcAft>
                <a:spcPts val="0"/>
              </a:spcAft>
              <a:buClr>
                <a:srgbClr val="051D3A"/>
              </a:buClr>
              <a:buSzPts val="3500"/>
              <a:buFont typeface="Times New Roman"/>
              <a:buNone/>
            </a:pPr>
            <a:r>
              <a:rPr b="1" lang="en" sz="2400"/>
              <a:t>Future Scope</a:t>
            </a:r>
            <a:endParaRPr/>
          </a:p>
        </p:txBody>
      </p:sp>
      <p:sp>
        <p:nvSpPr>
          <p:cNvPr id="125" name="Google Shape;125;p24"/>
          <p:cNvSpPr txBox="1"/>
          <p:nvPr>
            <p:ph idx="1" type="body"/>
          </p:nvPr>
        </p:nvSpPr>
        <p:spPr>
          <a:xfrm>
            <a:off x="311700" y="1281875"/>
            <a:ext cx="8520600" cy="3801300"/>
          </a:xfrm>
          <a:prstGeom prst="rect">
            <a:avLst/>
          </a:prstGeom>
        </p:spPr>
        <p:txBody>
          <a:bodyPr anchorCtr="0" anchor="t" bIns="91425" lIns="91425" spcFirstLastPara="1" rIns="91425" wrap="square" tIns="91425">
            <a:normAutofit fontScale="77500" lnSpcReduction="10000"/>
          </a:bodyPr>
          <a:lstStyle/>
          <a:p>
            <a:pPr indent="-343263" lvl="0" marL="457200" rtl="0" algn="l">
              <a:spcBef>
                <a:spcPts val="1200"/>
              </a:spcBef>
              <a:spcAft>
                <a:spcPts val="0"/>
              </a:spcAft>
              <a:buClr>
                <a:schemeClr val="dk1"/>
              </a:buClr>
              <a:buSzPct val="100000"/>
              <a:buChar char="●"/>
            </a:pPr>
            <a:r>
              <a:rPr b="1" lang="en" sz="2330">
                <a:solidFill>
                  <a:schemeClr val="dk1"/>
                </a:solidFill>
              </a:rPr>
              <a:t>Computer Vision Skin Analysis:</a:t>
            </a:r>
            <a:r>
              <a:rPr lang="en" sz="2330">
                <a:solidFill>
                  <a:schemeClr val="dk1"/>
                </a:solidFill>
              </a:rPr>
              <a:t> Integration of client-side camera APIs to perform real-time, visual skin barrier analysis and automatically detect hyperpigmentation, acne severity, or redness alongside text inputs.</a:t>
            </a:r>
            <a:endParaRPr sz="2330">
              <a:solidFill>
                <a:schemeClr val="dk1"/>
              </a:solidFill>
            </a:endParaRPr>
          </a:p>
          <a:p>
            <a:pPr indent="-343263" lvl="0" marL="457200" rtl="0" algn="l">
              <a:spcBef>
                <a:spcPts val="0"/>
              </a:spcBef>
              <a:spcAft>
                <a:spcPts val="0"/>
              </a:spcAft>
              <a:buClr>
                <a:schemeClr val="dk1"/>
              </a:buClr>
              <a:buSzPct val="100000"/>
              <a:buChar char="●"/>
            </a:pPr>
            <a:r>
              <a:rPr b="1" lang="en" sz="2330">
                <a:solidFill>
                  <a:schemeClr val="dk1"/>
                </a:solidFill>
              </a:rPr>
              <a:t>Predictive Environmental Adaptation:</a:t>
            </a:r>
            <a:r>
              <a:rPr lang="en" sz="2330">
                <a:solidFill>
                  <a:schemeClr val="dk1"/>
                </a:solidFill>
              </a:rPr>
              <a:t> Connecting the backend to live, location-based weather APIs to automatically recalibrate the routine's active ingredients based on real-time UV indexes, humidity levels, and pollution spikes.</a:t>
            </a:r>
            <a:endParaRPr>
              <a:solidFill>
                <a:schemeClr val="dk1"/>
              </a:solidFill>
            </a:endParaRPr>
          </a:p>
          <a:p>
            <a:pPr indent="0" lvl="0" marL="0" marR="381000" rtl="0" algn="l">
              <a:spcBef>
                <a:spcPts val="1200"/>
              </a:spcBef>
              <a:spcAft>
                <a:spcPts val="0"/>
              </a:spcAft>
              <a:buClr>
                <a:schemeClr val="dk1"/>
              </a:buClr>
              <a:buSzPct val="50295"/>
              <a:buFont typeface="Arial"/>
              <a:buNone/>
            </a:pPr>
            <a:r>
              <a:rPr lang="en" sz="2187">
                <a:solidFill>
                  <a:schemeClr val="dk1"/>
                </a:solidFill>
              </a:rPr>
              <a:t>By evolving from reactive inputs to proactive visual and environmental telemetry, the next phase of the platform will establish a truly automated, preventative dermatological care ecosystem.</a:t>
            </a:r>
            <a:endParaRPr sz="2187">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20009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Font typeface="Arial"/>
              <a:buNone/>
            </a:pPr>
            <a:r>
              <a:rPr b="1" lang="en" sz="2400">
                <a:solidFill>
                  <a:srgbClr val="000000"/>
                </a:solidFill>
              </a:rPr>
              <a:t>Certificates Earned:</a:t>
            </a:r>
            <a:endParaRPr sz="1400">
              <a:solidFill>
                <a:srgbClr val="000000"/>
              </a:solidFill>
            </a:endParaRPr>
          </a:p>
          <a:p>
            <a:pPr indent="0" lvl="0" marL="0" rtl="0" algn="ctr">
              <a:spcBef>
                <a:spcPts val="0"/>
              </a:spcBef>
              <a:spcAft>
                <a:spcPts val="0"/>
              </a:spcAft>
              <a:buClr>
                <a:srgbClr val="000000"/>
              </a:buClr>
              <a:buFont typeface="Arial"/>
              <a:buNone/>
            </a:pPr>
            <a:r>
              <a:t/>
            </a:r>
            <a:endParaRPr sz="1400">
              <a:solidFill>
                <a:srgbClr val="000000"/>
              </a:solidFill>
            </a:endParaRPr>
          </a:p>
          <a:p>
            <a:pPr indent="0" lvl="0" marL="0" rtl="0" algn="l">
              <a:spcBef>
                <a:spcPts val="0"/>
              </a:spcBef>
              <a:spcAft>
                <a:spcPts val="0"/>
              </a:spcAft>
              <a:buNone/>
            </a:pPr>
            <a:r>
              <a:t/>
            </a:r>
            <a:endParaRPr/>
          </a:p>
        </p:txBody>
      </p:sp>
      <p:sp>
        <p:nvSpPr>
          <p:cNvPr id="131" name="Google Shape;131;p25"/>
          <p:cNvSpPr txBox="1"/>
          <p:nvPr>
            <p:ph idx="1" type="body"/>
          </p:nvPr>
        </p:nvSpPr>
        <p:spPr>
          <a:xfrm>
            <a:off x="311700" y="711603"/>
            <a:ext cx="8566500" cy="520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solidFill>
                  <a:schemeClr val="dk1"/>
                </a:solidFill>
              </a:rPr>
              <a:t>Getting Started with Artificial Intelligence</a:t>
            </a:r>
            <a:endParaRPr b="1">
              <a:solidFill>
                <a:schemeClr val="dk1"/>
              </a:solidFill>
            </a:endParaRPr>
          </a:p>
        </p:txBody>
      </p:sp>
      <p:pic>
        <p:nvPicPr>
          <p:cNvPr id="132" name="Google Shape;132;p25" title="AI.jpeg"/>
          <p:cNvPicPr preferRelativeResize="0"/>
          <p:nvPr/>
        </p:nvPicPr>
        <p:blipFill>
          <a:blip r:embed="rId3">
            <a:alphaModFix/>
          </a:blip>
          <a:stretch>
            <a:fillRect/>
          </a:stretch>
        </p:blipFill>
        <p:spPr>
          <a:xfrm>
            <a:off x="1781725" y="1232150"/>
            <a:ext cx="5215400" cy="4028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229488"/>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2150"/>
              <a:t>Certificates Earned:</a:t>
            </a:r>
            <a:endParaRPr sz="2150"/>
          </a:p>
        </p:txBody>
      </p:sp>
      <p:sp>
        <p:nvSpPr>
          <p:cNvPr id="138" name="Google Shape;138;p26"/>
          <p:cNvSpPr txBox="1"/>
          <p:nvPr>
            <p:ph idx="1" type="body"/>
          </p:nvPr>
        </p:nvSpPr>
        <p:spPr>
          <a:xfrm>
            <a:off x="311700" y="711604"/>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b="1" lang="en">
                <a:solidFill>
                  <a:schemeClr val="dk1"/>
                </a:solidFill>
              </a:rPr>
              <a:t>Getting Started with Artificial Intelligence</a:t>
            </a:r>
            <a:endParaRPr/>
          </a:p>
        </p:txBody>
      </p:sp>
      <p:pic>
        <p:nvPicPr>
          <p:cNvPr id="139" name="Google Shape;139;p26" title="WhatsApp Image 2026-07-11 at 13.42.28 (Edited).jpeg"/>
          <p:cNvPicPr preferRelativeResize="0"/>
          <p:nvPr/>
        </p:nvPicPr>
        <p:blipFill>
          <a:blip r:embed="rId3">
            <a:alphaModFix/>
          </a:blip>
          <a:stretch>
            <a:fillRect/>
          </a:stretch>
        </p:blipFill>
        <p:spPr>
          <a:xfrm>
            <a:off x="1423075" y="1122950"/>
            <a:ext cx="6297849" cy="3888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7"/>
          <p:cNvPicPr preferRelativeResize="0"/>
          <p:nvPr/>
        </p:nvPicPr>
        <p:blipFill rotWithShape="1">
          <a:blip r:embed="rId3">
            <a:alphaModFix/>
          </a:blip>
          <a:srcRect b="0" l="0" r="0" t="0"/>
          <a:stretch/>
        </p:blipFill>
        <p:spPr>
          <a:xfrm>
            <a:off x="645350" y="1817900"/>
            <a:ext cx="7853302" cy="1595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